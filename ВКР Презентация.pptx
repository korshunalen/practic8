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66" r:id="rId4"/>
    <p:sldId id="258" r:id="rId5"/>
    <p:sldId id="259" r:id="rId6"/>
    <p:sldId id="260" r:id="rId7"/>
    <p:sldId id="264" r:id="rId8"/>
    <p:sldId id="265" r:id="rId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80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2c161430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2c161430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2c161430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2c161430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94291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2c1614303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2c1614303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2c1614303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2c1614303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2c1614303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2c1614303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1e5523acd3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1e5523acd3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e462d57c9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1e462d57c9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0" y="1255911"/>
            <a:ext cx="8520600" cy="116081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800" b="1" dirty="0">
                <a:latin typeface="Times New Roman"/>
                <a:ea typeface="Times New Roman"/>
                <a:cs typeface="Times New Roman"/>
                <a:sym typeface="Times New Roman"/>
              </a:rPr>
              <a:t>Разработка информационной системы для автоматизации бизнес-процессов образовательного центра</a:t>
            </a:r>
            <a:endParaRPr sz="28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4064854" y="2571750"/>
            <a:ext cx="5079146" cy="236855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5461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Выполнил</a:t>
            </a:r>
            <a:r>
              <a:rPr lang="ru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endParaRPr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54610" lvl="0" indent="0" algn="l" rtl="0">
              <a:lnSpc>
                <a:spcPct val="115000"/>
              </a:lnSpc>
              <a:spcBef>
                <a:spcPts val="43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студент 4 курса</a:t>
            </a:r>
          </a:p>
          <a:p>
            <a:pPr marL="0" marR="54610" lvl="0" indent="0" algn="l" rtl="0">
              <a:lnSpc>
                <a:spcPct val="115000"/>
              </a:lnSpc>
              <a:spcBef>
                <a:spcPts val="43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09.03.01 Информатика и вычислительная техника, Технологии разработки программного  обеспечения</a:t>
            </a:r>
            <a:endParaRPr lang="ru"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54610" lvl="0" indent="0" algn="l" rtl="0">
              <a:lnSpc>
                <a:spcPct val="115000"/>
              </a:lnSpc>
              <a:spcBef>
                <a:spcPts val="43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Коршунова Алена Альбертовна</a:t>
            </a:r>
            <a:endParaRPr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54610" lvl="0" indent="0" algn="l" rtl="0">
              <a:lnSpc>
                <a:spcPct val="115000"/>
              </a:lnSpc>
              <a:spcBef>
                <a:spcPts val="43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Руководитель</a:t>
            </a:r>
            <a:r>
              <a:rPr lang="ru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endParaRPr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54610" indent="0" algn="l">
              <a:lnSpc>
                <a:spcPct val="115000"/>
              </a:lnSpc>
              <a:spcBef>
                <a:spcPts val="430"/>
              </a:spcBef>
              <a:spcAft>
                <a:spcPts val="430"/>
              </a:spcAft>
              <a:buClr>
                <a:schemeClr val="dk1"/>
              </a:buClr>
              <a:buSzPts val="1100"/>
            </a:pPr>
            <a:r>
              <a:rPr lang="ru" sz="1600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к.п.н., доцент </a:t>
            </a:r>
            <a:r>
              <a:rPr lang="ru-RU" sz="1600" dirty="0">
                <a:solidFill>
                  <a:schemeClr val="dk1"/>
                </a:solidFill>
                <a:latin typeface="Times New Roman"/>
                <a:cs typeface="Times New Roman"/>
              </a:rPr>
              <a:t>Ракитин Александр Георгиевич</a:t>
            </a:r>
          </a:p>
          <a:p>
            <a:pPr marL="0" marR="54610" lvl="0" indent="0" algn="l" rtl="0">
              <a:lnSpc>
                <a:spcPct val="115000"/>
              </a:lnSpc>
              <a:spcBef>
                <a:spcPts val="430"/>
              </a:spcBef>
              <a:spcAft>
                <a:spcPts val="43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</a:t>
            </a:r>
            <a:endParaRPr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427400"/>
            <a:ext cx="8520600" cy="257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000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ru-RU" sz="20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Актуальность работы обусловлена потребностью в создании адаптивного программного обеспечения, отвечающего требованиям образовательного центра. В отличие от типовых решений, разработка собственной информационной системы позволяет реализовать функционал, максимально соответствующий текущим бизнес-процессам и особенностям организационной структуры.</a:t>
            </a:r>
            <a:endParaRPr sz="20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" name="Google Shape;62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Предмет</a:t>
            </a:r>
            <a:endParaRPr sz="3000" dirty="0">
              <a:latin typeface="Thames" panose="02000503080000020003" pitchFamily="2" charset="0"/>
              <a:cs typeface="Times New Roman" panose="02020603050405020304" pitchFamily="18" charset="0"/>
            </a:endParaRP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427400"/>
            <a:ext cx="8520600" cy="257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000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ru-RU" sz="20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Предметом исследования является процесс автоматизации управления учебными данными с применением современных веб-технологий.</a:t>
            </a:r>
            <a:endParaRPr sz="20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" name="Google Shape;62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824272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>
                <a:latin typeface="Times New Roman"/>
                <a:ea typeface="Times New Roman"/>
                <a:cs typeface="Times New Roman"/>
                <a:sym typeface="Times New Roman"/>
              </a:rPr>
              <a:t>Цель</a:t>
            </a:r>
            <a:endParaRPr sz="30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311700" y="12820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0000" algn="just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0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Целью данной работы является разработка и внедрение информационной системы, направленной на автоматизацию ключевых бизнес-процессов образовательного центра.</a:t>
            </a:r>
          </a:p>
        </p:txBody>
      </p:sp>
      <p:sp>
        <p:nvSpPr>
          <p:cNvPr id="69" name="Google Shape;69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Times New Roman"/>
                <a:ea typeface="Times New Roman"/>
                <a:cs typeface="Times New Roman"/>
                <a:sym typeface="Times New Roman"/>
              </a:rPr>
              <a:t>Задачи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" name="Google Shape;75;p16"/>
          <p:cNvSpPr txBox="1">
            <a:spLocks noGrp="1"/>
          </p:cNvSpPr>
          <p:nvPr>
            <p:ph type="body" idx="1"/>
          </p:nvPr>
        </p:nvSpPr>
        <p:spPr>
          <a:xfrm>
            <a:off x="415911" y="1095938"/>
            <a:ext cx="8312178" cy="36025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0000" algn="l" rtl="0">
              <a:buNone/>
            </a:pPr>
            <a:r>
              <a:rPr lang="ru-RU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</a:t>
            </a:r>
            <a:r>
              <a:rPr lang="en-US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Провести анализ предметной области и обосновать функциональные требования к информационной системе образовательного центра.</a:t>
            </a:r>
          </a:p>
          <a:p>
            <a:pPr marL="0" lvl="0" indent="450000" algn="l" rtl="0">
              <a:buNone/>
            </a:pPr>
            <a:r>
              <a:rPr lang="ru-RU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</a:t>
            </a:r>
            <a:r>
              <a:rPr lang="en-US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Спроектировать архитектуру информационной системы и разработать реляционную модель базы данных, обеспечивающую целостность хранимой информации.</a:t>
            </a:r>
          </a:p>
          <a:p>
            <a:pPr marL="0" lvl="0" indent="450000" algn="l" rtl="0">
              <a:buNone/>
            </a:pPr>
            <a:r>
              <a:rPr lang="ru-RU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</a:t>
            </a:r>
            <a:r>
              <a:rPr lang="en-US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Осуществить программную реализацию функциональных модулей системы, включая механизмы авторизации пользователей и разграничения прав доступа.</a:t>
            </a:r>
          </a:p>
          <a:p>
            <a:pPr marL="0" lvl="0" indent="450000" algn="l" rtl="0">
              <a:buNone/>
            </a:pPr>
            <a:r>
              <a:rPr lang="ru-RU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</a:t>
            </a:r>
            <a:r>
              <a:rPr lang="en-US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Провести тестирование разработанной информационной системы. </a:t>
            </a: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" name="Google Shape;76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Times New Roman"/>
                <a:ea typeface="Times New Roman"/>
                <a:cs typeface="Times New Roman"/>
                <a:sym typeface="Times New Roman"/>
              </a:rPr>
              <a:t>Инструменты и технологии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" name="Google Shape;82;p17"/>
          <p:cNvSpPr txBox="1">
            <a:spLocks noGrp="1"/>
          </p:cNvSpPr>
          <p:nvPr>
            <p:ph type="body" idx="1"/>
          </p:nvPr>
        </p:nvSpPr>
        <p:spPr>
          <a:xfrm>
            <a:off x="438921" y="1200605"/>
            <a:ext cx="8520600" cy="3734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46100" lvl="0" indent="-4572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+mj-lt"/>
              <a:buAutoNum type="arabicPeriod"/>
            </a:pPr>
            <a:r>
              <a:rPr lang="ru-RU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Python</a:t>
            </a: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46100" lvl="0" indent="-4572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+mj-lt"/>
              <a:buAutoNum type="arabicPeriod"/>
            </a:pPr>
            <a:r>
              <a:rPr lang="ru-RU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Flask</a:t>
            </a:r>
            <a:r>
              <a:rPr lang="ru-RU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46100" lvl="0" indent="-4572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+mj-lt"/>
              <a:buAutoNum type="arabicPeriod"/>
            </a:pPr>
            <a:r>
              <a:rPr lang="ru-RU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SQLAlchemy</a:t>
            </a:r>
            <a:r>
              <a:rPr lang="ru-RU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(ORM)</a:t>
            </a:r>
            <a:endParaRPr lang="en-US" sz="2400" dirty="0">
              <a:solidFill>
                <a:schemeClr val="dk1"/>
              </a:solidFill>
              <a:latin typeface="Times New Roman"/>
              <a:cs typeface="Times New Roman"/>
              <a:sym typeface="Times New Roman"/>
            </a:endParaRPr>
          </a:p>
          <a:p>
            <a:pPr marL="546100" lvl="0" indent="-4572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+mj-lt"/>
              <a:buAutoNum type="arabicPeriod"/>
            </a:pPr>
            <a:r>
              <a:rPr lang="ru-RU" sz="2400" dirty="0" err="1">
                <a:solidFill>
                  <a:schemeClr val="dk1"/>
                </a:solidFill>
                <a:latin typeface="Times New Roman"/>
                <a:cs typeface="Times New Roman"/>
              </a:rPr>
              <a:t>SQLite</a:t>
            </a:r>
            <a:r>
              <a:rPr lang="ru-RU" sz="2400" dirty="0">
                <a:solidFill>
                  <a:schemeClr val="dk1"/>
                </a:solidFill>
                <a:latin typeface="Times New Roman"/>
                <a:cs typeface="Times New Roman"/>
              </a:rPr>
              <a:t> </a:t>
            </a:r>
            <a:endParaRPr lang="en-US" sz="2400" dirty="0">
              <a:solidFill>
                <a:schemeClr val="dk1"/>
              </a:solidFill>
              <a:latin typeface="Times New Roman"/>
              <a:cs typeface="Times New Roman"/>
            </a:endParaRPr>
          </a:p>
          <a:p>
            <a:pPr marL="546100" lvl="0" indent="-4572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+mj-lt"/>
              <a:buAutoNum type="arabicPeriod"/>
            </a:pPr>
            <a:r>
              <a:rPr lang="ru-RU" sz="2400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HTML5 / CSS3</a:t>
            </a:r>
            <a:endParaRPr lang="en-US" sz="2400" dirty="0">
              <a:solidFill>
                <a:schemeClr val="dk1"/>
              </a:solidFill>
              <a:latin typeface="Times New Roman"/>
              <a:cs typeface="Times New Roman"/>
              <a:sym typeface="Times New Roman"/>
            </a:endParaRPr>
          </a:p>
          <a:p>
            <a:pPr marL="546100" lvl="0" indent="-4572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+mj-lt"/>
              <a:buAutoNum type="arabicPeriod"/>
            </a:pPr>
            <a:r>
              <a:rPr lang="ru-RU" sz="2400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Jinja2 </a:t>
            </a:r>
            <a:endParaRPr lang="en-US" sz="2400" dirty="0">
              <a:solidFill>
                <a:schemeClr val="dk1"/>
              </a:solidFill>
              <a:latin typeface="Times New Roman"/>
              <a:cs typeface="Times New Roman"/>
              <a:sym typeface="Times New Roman"/>
            </a:endParaRPr>
          </a:p>
          <a:p>
            <a:pPr marL="546100" lvl="0" indent="-4572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+mj-lt"/>
              <a:buAutoNum type="arabicPeriod"/>
            </a:pPr>
            <a:r>
              <a:rPr lang="ru-RU" sz="2400" dirty="0" err="1">
                <a:solidFill>
                  <a:schemeClr val="dk1"/>
                </a:solidFill>
                <a:latin typeface="Times New Roman"/>
                <a:cs typeface="Times New Roman"/>
              </a:rPr>
              <a:t>Werkzeug</a:t>
            </a:r>
            <a:endParaRPr sz="2400" dirty="0">
              <a:solidFill>
                <a:schemeClr val="dk1"/>
              </a:solidFill>
              <a:latin typeface="Times New Roman"/>
              <a:cs typeface="Times New Roman"/>
              <a:sym typeface="Times New Roman"/>
            </a:endParaRPr>
          </a:p>
        </p:txBody>
      </p:sp>
      <p:sp>
        <p:nvSpPr>
          <p:cNvPr id="83" name="Google Shape;83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Результат</a:t>
            </a:r>
            <a:endParaRPr dirty="0"/>
          </a:p>
        </p:txBody>
      </p:sp>
      <p:sp>
        <p:nvSpPr>
          <p:cNvPr id="109" name="Google Shape;109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" name="Google Shape;110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7</a:t>
            </a:fld>
            <a:endParaRPr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CE4CA0F-D6BC-E037-2B0F-6E3184F601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064" y="1050723"/>
            <a:ext cx="8416744" cy="361990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>
            <a:spLocks noGrp="1"/>
          </p:cNvSpPr>
          <p:nvPr>
            <p:ph type="body" idx="1"/>
          </p:nvPr>
        </p:nvSpPr>
        <p:spPr>
          <a:xfrm>
            <a:off x="311700" y="13557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ru" sz="3000">
                <a:solidFill>
                  <a:srgbClr val="000000"/>
                </a:solidFill>
              </a:rPr>
              <a:t>Демонстрация работы продукта</a:t>
            </a:r>
            <a:endParaRPr sz="3000">
              <a:solidFill>
                <a:srgbClr val="000000"/>
              </a:solidFill>
            </a:endParaRPr>
          </a:p>
        </p:txBody>
      </p:sp>
      <p:sp>
        <p:nvSpPr>
          <p:cNvPr id="116" name="Google Shape;116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8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197</Words>
  <Application>Microsoft Office PowerPoint</Application>
  <PresentationFormat>Экран (16:9)</PresentationFormat>
  <Paragraphs>35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Thames</vt:lpstr>
      <vt:lpstr>Times New Roman</vt:lpstr>
      <vt:lpstr>Simple Light</vt:lpstr>
      <vt:lpstr>Разработка информационной системы для автоматизации бизнес-процессов образовательного центра</vt:lpstr>
      <vt:lpstr>Актуальность</vt:lpstr>
      <vt:lpstr>Предмет</vt:lpstr>
      <vt:lpstr>Цель</vt:lpstr>
      <vt:lpstr>Задачи</vt:lpstr>
      <vt:lpstr>Инструменты и технологии</vt:lpstr>
      <vt:lpstr>Результат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Название ВКР</dc:title>
  <dc:creator>Светлана Гончарова</dc:creator>
  <cp:lastModifiedBy>Алена Гумирова</cp:lastModifiedBy>
  <cp:revision>4</cp:revision>
  <dcterms:modified xsi:type="dcterms:W3CDTF">2026-05-25T20:43:33Z</dcterms:modified>
</cp:coreProperties>
</file>